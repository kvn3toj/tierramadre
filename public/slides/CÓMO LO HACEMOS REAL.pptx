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Montserrat"/>
      <p:regular r:id="rId13"/>
      <p:bold r:id="rId14"/>
      <p:italic r:id="rId15"/>
      <p:boldItalic r:id="rId16"/>
    </p:embeddedFont>
    <p:embeddedFont>
      <p:font typeface="Montserrat Medium"/>
      <p:regular r:id="rId17"/>
      <p:bold r:id="rId18"/>
      <p:italic r:id="rId19"/>
      <p:boldItalic r:id="rId20"/>
    </p:embeddedFont>
    <p:embeddedFont>
      <p:font typeface="Montserrat Ligh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0FE948-9B7B-49DA-9B90-EE4413A26F05}">
  <a:tblStyle styleId="{530FE948-9B7B-49DA-9B90-EE4413A26F0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Medium-boldItalic.fntdata"/><Relationship Id="rId11" Type="http://schemas.openxmlformats.org/officeDocument/2006/relationships/slide" Target="slides/slide5.xml"/><Relationship Id="rId22" Type="http://schemas.openxmlformats.org/officeDocument/2006/relationships/font" Target="fonts/MontserratLight-bold.fntdata"/><Relationship Id="rId10" Type="http://schemas.openxmlformats.org/officeDocument/2006/relationships/slide" Target="slides/slide4.xml"/><Relationship Id="rId21" Type="http://schemas.openxmlformats.org/officeDocument/2006/relationships/font" Target="fonts/MontserratLight-regular.fntdata"/><Relationship Id="rId13" Type="http://schemas.openxmlformats.org/officeDocument/2006/relationships/font" Target="fonts/Montserrat-regular.fntdata"/><Relationship Id="rId24" Type="http://schemas.openxmlformats.org/officeDocument/2006/relationships/font" Target="fonts/MontserratLight-boldItalic.fntdata"/><Relationship Id="rId12" Type="http://schemas.openxmlformats.org/officeDocument/2006/relationships/slide" Target="slides/slide6.xml"/><Relationship Id="rId23" Type="http://schemas.openxmlformats.org/officeDocument/2006/relationships/font" Target="fonts/Montserrat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Montserrat-italic.fntdata"/><Relationship Id="rId14" Type="http://schemas.openxmlformats.org/officeDocument/2006/relationships/font" Target="fonts/Montserrat-bold.fntdata"/><Relationship Id="rId17" Type="http://schemas.openxmlformats.org/officeDocument/2006/relationships/font" Target="fonts/MontserratMedium-regular.fntdata"/><Relationship Id="rId16" Type="http://schemas.openxmlformats.org/officeDocument/2006/relationships/font" Target="fonts/Montserrat-boldItalic.fntdata"/><Relationship Id="rId5" Type="http://schemas.openxmlformats.org/officeDocument/2006/relationships/slideMaster" Target="slideMasters/slideMaster1.xml"/><Relationship Id="rId19" Type="http://schemas.openxmlformats.org/officeDocument/2006/relationships/font" Target="fonts/MontserratMedium-italic.fntdata"/><Relationship Id="rId6" Type="http://schemas.openxmlformats.org/officeDocument/2006/relationships/notesMaster" Target="notesMasters/notesMaster1.xml"/><Relationship Id="rId18" Type="http://schemas.openxmlformats.org/officeDocument/2006/relationships/font" Target="fonts/MontserratMedium-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56cde4818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56cde4818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56cde48180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56cde48180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6d41f24a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6d41f24a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6d41f24a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6d41f24a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56d41f24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56d41f24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title="LOGO BLANCO-03.png"/>
          <p:cNvPicPr preferRelativeResize="0"/>
          <p:nvPr/>
        </p:nvPicPr>
        <p:blipFill>
          <a:blip r:embed="rId4">
            <a:alphaModFix/>
          </a:blip>
          <a:stretch>
            <a:fillRect/>
          </a:stretch>
        </p:blipFill>
        <p:spPr>
          <a:xfrm>
            <a:off x="3206298" y="2645075"/>
            <a:ext cx="2385200" cy="1264250"/>
          </a:xfrm>
          <a:prstGeom prst="rect">
            <a:avLst/>
          </a:prstGeom>
          <a:noFill/>
          <a:ln>
            <a:noFill/>
          </a:ln>
        </p:spPr>
      </p:pic>
    </p:spTree>
  </p:cSld>
  <p:clrMapOvr>
    <a:masterClrMapping/>
  </p:clrMapOvr>
  <mc:AlternateContent>
    <mc:Choice Requires="p14">
      <p:transition spd="med">
        <p14:flip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title="bg_desktop_enfoque_02.jpg"/>
          <p:cNvPicPr preferRelativeResize="0"/>
          <p:nvPr/>
        </p:nvPicPr>
        <p:blipFill>
          <a:blip r:embed="rId3">
            <a:alphaModFix/>
          </a:blip>
          <a:stretch>
            <a:fillRect/>
          </a:stretch>
        </p:blipFill>
        <p:spPr>
          <a:xfrm>
            <a:off x="7403548" y="3682677"/>
            <a:ext cx="1611699" cy="1396076"/>
          </a:xfrm>
          <a:prstGeom prst="rect">
            <a:avLst/>
          </a:prstGeom>
          <a:noFill/>
          <a:ln>
            <a:noFill/>
          </a:ln>
        </p:spPr>
      </p:pic>
      <p:pic>
        <p:nvPicPr>
          <p:cNvPr id="60" name="Google Shape;60;p14"/>
          <p:cNvPicPr preferRelativeResize="0"/>
          <p:nvPr/>
        </p:nvPicPr>
        <p:blipFill>
          <a:blip r:embed="rId4">
            <a:alphaModFix/>
          </a:blip>
          <a:stretch>
            <a:fillRect/>
          </a:stretch>
        </p:blipFill>
        <p:spPr>
          <a:xfrm>
            <a:off x="2834122" y="902547"/>
            <a:ext cx="3438724" cy="3229651"/>
          </a:xfrm>
          <a:prstGeom prst="rect">
            <a:avLst/>
          </a:prstGeom>
          <a:noFill/>
          <a:ln>
            <a:noFill/>
          </a:ln>
        </p:spPr>
      </p:pic>
      <p:pic>
        <p:nvPicPr>
          <p:cNvPr id="61" name="Google Shape;61;p14" title="Catálogo de Esmeraldas-02.png"/>
          <p:cNvPicPr preferRelativeResize="0"/>
          <p:nvPr/>
        </p:nvPicPr>
        <p:blipFill>
          <a:blip r:embed="rId5">
            <a:alphaModFix/>
          </a:blip>
          <a:stretch>
            <a:fillRect/>
          </a:stretch>
        </p:blipFill>
        <p:spPr>
          <a:xfrm>
            <a:off x="3686400" y="222150"/>
            <a:ext cx="1771175" cy="942600"/>
          </a:xfrm>
          <a:prstGeom prst="rect">
            <a:avLst/>
          </a:prstGeom>
          <a:noFill/>
          <a:ln>
            <a:noFill/>
          </a:ln>
        </p:spPr>
      </p:pic>
      <p:sp>
        <p:nvSpPr>
          <p:cNvPr id="62" name="Google Shape;62;p14"/>
          <p:cNvSpPr txBox="1"/>
          <p:nvPr/>
        </p:nvSpPr>
        <p:spPr>
          <a:xfrm>
            <a:off x="187837" y="4506275"/>
            <a:ext cx="16116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100">
                <a:solidFill>
                  <a:srgbClr val="50C878"/>
                </a:solidFill>
                <a:latin typeface="Montserrat"/>
                <a:ea typeface="Montserrat"/>
                <a:cs typeface="Montserrat"/>
                <a:sym typeface="Montserrat"/>
              </a:rPr>
              <a:t>Cadena de Valor</a:t>
            </a:r>
            <a:endParaRPr sz="1100">
              <a:solidFill>
                <a:srgbClr val="50C878"/>
              </a:solidFill>
              <a:latin typeface="Montserrat"/>
              <a:ea typeface="Montserrat"/>
              <a:cs typeface="Montserrat"/>
              <a:sym typeface="Montserrat"/>
            </a:endParaRPr>
          </a:p>
        </p:txBody>
      </p:sp>
      <p:pic>
        <p:nvPicPr>
          <p:cNvPr id="63" name="Google Shape;63;p14" title="como lo hacemos_Mesa de trabajo 1.png"/>
          <p:cNvPicPr preferRelativeResize="0"/>
          <p:nvPr/>
        </p:nvPicPr>
        <p:blipFill rotWithShape="1">
          <a:blip r:embed="rId6">
            <a:alphaModFix/>
          </a:blip>
          <a:srcRect b="21439" l="0" r="84040" t="0"/>
          <a:stretch/>
        </p:blipFill>
        <p:spPr>
          <a:xfrm>
            <a:off x="0" y="1849163"/>
            <a:ext cx="1459323" cy="1445175"/>
          </a:xfrm>
          <a:prstGeom prst="rect">
            <a:avLst/>
          </a:prstGeom>
          <a:noFill/>
          <a:ln>
            <a:noFill/>
          </a:ln>
        </p:spPr>
      </p:pic>
      <p:pic>
        <p:nvPicPr>
          <p:cNvPr id="64" name="Google Shape;64;p14" title="como lo hacemos_Mesa de trabajo 1.png"/>
          <p:cNvPicPr preferRelativeResize="0"/>
          <p:nvPr/>
        </p:nvPicPr>
        <p:blipFill rotWithShape="1">
          <a:blip r:embed="rId6">
            <a:alphaModFix/>
          </a:blip>
          <a:srcRect b="21439" l="15982" r="71317" t="0"/>
          <a:stretch/>
        </p:blipFill>
        <p:spPr>
          <a:xfrm>
            <a:off x="1570375" y="1849163"/>
            <a:ext cx="1161252" cy="1445175"/>
          </a:xfrm>
          <a:prstGeom prst="rect">
            <a:avLst/>
          </a:prstGeom>
          <a:noFill/>
          <a:ln>
            <a:noFill/>
          </a:ln>
        </p:spPr>
      </p:pic>
      <p:pic>
        <p:nvPicPr>
          <p:cNvPr id="65" name="Google Shape;65;p14" title="como lo hacemos_Mesa de trabajo 1.png"/>
          <p:cNvPicPr preferRelativeResize="0"/>
          <p:nvPr/>
        </p:nvPicPr>
        <p:blipFill rotWithShape="1">
          <a:blip r:embed="rId6">
            <a:alphaModFix/>
          </a:blip>
          <a:srcRect b="21439" l="27995" r="59305" t="0"/>
          <a:stretch/>
        </p:blipFill>
        <p:spPr>
          <a:xfrm>
            <a:off x="2614075" y="1849163"/>
            <a:ext cx="1161252" cy="1445175"/>
          </a:xfrm>
          <a:prstGeom prst="rect">
            <a:avLst/>
          </a:prstGeom>
          <a:noFill/>
          <a:ln>
            <a:noFill/>
          </a:ln>
        </p:spPr>
      </p:pic>
      <p:pic>
        <p:nvPicPr>
          <p:cNvPr id="66" name="Google Shape;66;p14" title="como lo hacemos_Mesa de trabajo 1.png"/>
          <p:cNvPicPr preferRelativeResize="0"/>
          <p:nvPr/>
        </p:nvPicPr>
        <p:blipFill rotWithShape="1">
          <a:blip r:embed="rId6">
            <a:alphaModFix/>
          </a:blip>
          <a:srcRect b="21439" l="40602" r="46698" t="0"/>
          <a:stretch/>
        </p:blipFill>
        <p:spPr>
          <a:xfrm>
            <a:off x="3886375" y="1849163"/>
            <a:ext cx="1161252" cy="1445175"/>
          </a:xfrm>
          <a:prstGeom prst="rect">
            <a:avLst/>
          </a:prstGeom>
          <a:noFill/>
          <a:ln>
            <a:noFill/>
          </a:ln>
        </p:spPr>
      </p:pic>
      <p:pic>
        <p:nvPicPr>
          <p:cNvPr id="67" name="Google Shape;67;p14" title="como lo hacemos_Mesa de trabajo 1.png"/>
          <p:cNvPicPr preferRelativeResize="0"/>
          <p:nvPr/>
        </p:nvPicPr>
        <p:blipFill rotWithShape="1">
          <a:blip r:embed="rId6">
            <a:alphaModFix/>
          </a:blip>
          <a:srcRect b="21439" l="53922" r="33377" t="0"/>
          <a:stretch/>
        </p:blipFill>
        <p:spPr>
          <a:xfrm>
            <a:off x="5234875" y="1849163"/>
            <a:ext cx="1161252" cy="1445175"/>
          </a:xfrm>
          <a:prstGeom prst="rect">
            <a:avLst/>
          </a:prstGeom>
          <a:noFill/>
          <a:ln>
            <a:noFill/>
          </a:ln>
        </p:spPr>
      </p:pic>
      <p:pic>
        <p:nvPicPr>
          <p:cNvPr id="68" name="Google Shape;68;p14" title="como lo hacemos_Mesa de trabajo 1.png"/>
          <p:cNvPicPr preferRelativeResize="0"/>
          <p:nvPr/>
        </p:nvPicPr>
        <p:blipFill rotWithShape="1">
          <a:blip r:embed="rId6">
            <a:alphaModFix/>
          </a:blip>
          <a:srcRect b="21439" l="66889" r="20410" t="0"/>
          <a:stretch/>
        </p:blipFill>
        <p:spPr>
          <a:xfrm>
            <a:off x="6354775" y="1849163"/>
            <a:ext cx="1161252" cy="1445175"/>
          </a:xfrm>
          <a:prstGeom prst="rect">
            <a:avLst/>
          </a:prstGeom>
          <a:noFill/>
          <a:ln>
            <a:noFill/>
          </a:ln>
        </p:spPr>
      </p:pic>
      <p:pic>
        <p:nvPicPr>
          <p:cNvPr id="69" name="Google Shape;69;p14" title="como lo hacemos_Mesa de trabajo 1.png"/>
          <p:cNvPicPr preferRelativeResize="0"/>
          <p:nvPr/>
        </p:nvPicPr>
        <p:blipFill rotWithShape="1">
          <a:blip r:embed="rId6">
            <a:alphaModFix/>
          </a:blip>
          <a:srcRect b="21439" l="79731" r="7569" t="0"/>
          <a:stretch/>
        </p:blipFill>
        <p:spPr>
          <a:xfrm>
            <a:off x="7552575" y="1849163"/>
            <a:ext cx="1161252" cy="1445175"/>
          </a:xfrm>
          <a:prstGeom prst="rect">
            <a:avLst/>
          </a:prstGeom>
          <a:noFill/>
          <a:ln>
            <a:noFill/>
          </a:ln>
        </p:spPr>
      </p:pic>
    </p:spTree>
  </p:cSld>
  <p:clrMapOvr>
    <a:masterClrMapping/>
  </p:clrMapOvr>
  <mc:AlternateContent>
    <mc:Choice Requires="p14">
      <p:transition spd="slow" p14:dur="7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1000"/>
                                        <p:tgtEl>
                                          <p:spTgt spid="63"/>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64"/>
                                        </p:tgtEl>
                                        <p:attrNameLst>
                                          <p:attrName>style.visibility</p:attrName>
                                        </p:attrNameLst>
                                      </p:cBhvr>
                                      <p:to>
                                        <p:strVal val="visible"/>
                                      </p:to>
                                    </p:set>
                                    <p:anim calcmode="lin" valueType="num">
                                      <p:cBhvr additive="base">
                                        <p:cTn dur="700"/>
                                        <p:tgtEl>
                                          <p:spTgt spid="64"/>
                                        </p:tgtEl>
                                        <p:attrNameLst>
                                          <p:attrName>ppt_x</p:attrName>
                                        </p:attrNameLst>
                                      </p:cBhvr>
                                      <p:tavLst>
                                        <p:tav fmla="" tm="0">
                                          <p:val>
                                            <p:strVal val="#ppt_x-1"/>
                                          </p:val>
                                        </p:tav>
                                        <p:tav fmla="" tm="100000">
                                          <p:val>
                                            <p:strVal val="#ppt_x"/>
                                          </p:val>
                                        </p:tav>
                                      </p:tavLst>
                                    </p:anim>
                                  </p:childTnLst>
                                </p:cTn>
                              </p:par>
                            </p:childTnLst>
                          </p:cTn>
                        </p:par>
                        <p:par>
                          <p:cTn fill="hold">
                            <p:stCondLst>
                              <p:cond delay="1700"/>
                            </p:stCondLst>
                            <p:childTnLst>
                              <p:par>
                                <p:cTn fill="hold" nodeType="afterEffect" presetClass="entr" presetID="2" presetSubtype="8">
                                  <p:stCondLst>
                                    <p:cond delay="0"/>
                                  </p:stCondLst>
                                  <p:childTnLst>
                                    <p:set>
                                      <p:cBhvr>
                                        <p:cTn dur="1" fill="hold">
                                          <p:stCondLst>
                                            <p:cond delay="0"/>
                                          </p:stCondLst>
                                        </p:cTn>
                                        <p:tgtEl>
                                          <p:spTgt spid="65"/>
                                        </p:tgtEl>
                                        <p:attrNameLst>
                                          <p:attrName>style.visibility</p:attrName>
                                        </p:attrNameLst>
                                      </p:cBhvr>
                                      <p:to>
                                        <p:strVal val="visible"/>
                                      </p:to>
                                    </p:set>
                                    <p:anim calcmode="lin" valueType="num">
                                      <p:cBhvr additive="base">
                                        <p:cTn dur="600"/>
                                        <p:tgtEl>
                                          <p:spTgt spid="65"/>
                                        </p:tgtEl>
                                        <p:attrNameLst>
                                          <p:attrName>ppt_x</p:attrName>
                                        </p:attrNameLst>
                                      </p:cBhvr>
                                      <p:tavLst>
                                        <p:tav fmla="" tm="0">
                                          <p:val>
                                            <p:strVal val="#ppt_x-1"/>
                                          </p:val>
                                        </p:tav>
                                        <p:tav fmla="" tm="100000">
                                          <p:val>
                                            <p:strVal val="#ppt_x"/>
                                          </p:val>
                                        </p:tav>
                                      </p:tavLst>
                                    </p:anim>
                                  </p:childTnLst>
                                </p:cTn>
                              </p:par>
                            </p:childTnLst>
                          </p:cTn>
                        </p:par>
                        <p:par>
                          <p:cTn fill="hold">
                            <p:stCondLst>
                              <p:cond delay="2300"/>
                            </p:stCondLst>
                            <p:childTnLst>
                              <p:par>
                                <p:cTn fill="hold" nodeType="afterEffect" presetClass="entr" presetID="2" presetSubtype="8">
                                  <p:stCondLst>
                                    <p:cond delay="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600"/>
                                        <p:tgtEl>
                                          <p:spTgt spid="66"/>
                                        </p:tgtEl>
                                        <p:attrNameLst>
                                          <p:attrName>ppt_x</p:attrName>
                                        </p:attrNameLst>
                                      </p:cBhvr>
                                      <p:tavLst>
                                        <p:tav fmla="" tm="0">
                                          <p:val>
                                            <p:strVal val="#ppt_x-1"/>
                                          </p:val>
                                        </p:tav>
                                        <p:tav fmla="" tm="100000">
                                          <p:val>
                                            <p:strVal val="#ppt_x"/>
                                          </p:val>
                                        </p:tav>
                                      </p:tavLst>
                                    </p:anim>
                                  </p:childTnLst>
                                </p:cTn>
                              </p:par>
                            </p:childTnLst>
                          </p:cTn>
                        </p:par>
                        <p:par>
                          <p:cTn fill="hold">
                            <p:stCondLst>
                              <p:cond delay="2900"/>
                            </p:stCondLst>
                            <p:childTnLst>
                              <p:par>
                                <p:cTn fill="hold" nodeType="afterEffect" presetClass="entr" presetID="2" presetSubtype="8">
                                  <p:stCondLst>
                                    <p:cond delay="0"/>
                                  </p:stCondLst>
                                  <p:childTnLst>
                                    <p:set>
                                      <p:cBhvr>
                                        <p:cTn dur="1" fill="hold">
                                          <p:stCondLst>
                                            <p:cond delay="0"/>
                                          </p:stCondLst>
                                        </p:cTn>
                                        <p:tgtEl>
                                          <p:spTgt spid="67"/>
                                        </p:tgtEl>
                                        <p:attrNameLst>
                                          <p:attrName>style.visibility</p:attrName>
                                        </p:attrNameLst>
                                      </p:cBhvr>
                                      <p:to>
                                        <p:strVal val="visible"/>
                                      </p:to>
                                    </p:set>
                                    <p:anim calcmode="lin" valueType="num">
                                      <p:cBhvr additive="base">
                                        <p:cTn dur="500"/>
                                        <p:tgtEl>
                                          <p:spTgt spid="67"/>
                                        </p:tgtEl>
                                        <p:attrNameLst>
                                          <p:attrName>ppt_x</p:attrName>
                                        </p:attrNameLst>
                                      </p:cBhvr>
                                      <p:tavLst>
                                        <p:tav fmla="" tm="0">
                                          <p:val>
                                            <p:strVal val="#ppt_x-1"/>
                                          </p:val>
                                        </p:tav>
                                        <p:tav fmla="" tm="100000">
                                          <p:val>
                                            <p:strVal val="#ppt_x"/>
                                          </p:val>
                                        </p:tav>
                                      </p:tavLst>
                                    </p:anim>
                                  </p:childTnLst>
                                </p:cTn>
                              </p:par>
                            </p:childTnLst>
                          </p:cTn>
                        </p:par>
                        <p:par>
                          <p:cTn fill="hold">
                            <p:stCondLst>
                              <p:cond delay="3400"/>
                            </p:stCondLst>
                            <p:childTnLst>
                              <p:par>
                                <p:cTn fill="hold" nodeType="afterEffect" presetClass="entr" presetID="2" presetSubtype="8">
                                  <p:stCondLst>
                                    <p:cond delay="0"/>
                                  </p:stCondLst>
                                  <p:childTnLst>
                                    <p:set>
                                      <p:cBhvr>
                                        <p:cTn dur="1" fill="hold">
                                          <p:stCondLst>
                                            <p:cond delay="0"/>
                                          </p:stCondLst>
                                        </p:cTn>
                                        <p:tgtEl>
                                          <p:spTgt spid="68"/>
                                        </p:tgtEl>
                                        <p:attrNameLst>
                                          <p:attrName>style.visibility</p:attrName>
                                        </p:attrNameLst>
                                      </p:cBhvr>
                                      <p:to>
                                        <p:strVal val="visible"/>
                                      </p:to>
                                    </p:set>
                                    <p:anim calcmode="lin" valueType="num">
                                      <p:cBhvr additive="base">
                                        <p:cTn dur="600"/>
                                        <p:tgtEl>
                                          <p:spTgt spid="68"/>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8">
                                  <p:stCondLst>
                                    <p:cond delay="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500"/>
                                        <p:tgtEl>
                                          <p:spTgt spid="6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5" title="bg_desktop_enfoque_02.jpg"/>
          <p:cNvPicPr preferRelativeResize="0"/>
          <p:nvPr/>
        </p:nvPicPr>
        <p:blipFill>
          <a:blip r:embed="rId3">
            <a:alphaModFix/>
          </a:blip>
          <a:stretch>
            <a:fillRect/>
          </a:stretch>
        </p:blipFill>
        <p:spPr>
          <a:xfrm>
            <a:off x="7403548" y="3682677"/>
            <a:ext cx="1611699" cy="1396076"/>
          </a:xfrm>
          <a:prstGeom prst="rect">
            <a:avLst/>
          </a:prstGeom>
          <a:noFill/>
          <a:ln>
            <a:noFill/>
          </a:ln>
        </p:spPr>
      </p:pic>
      <p:pic>
        <p:nvPicPr>
          <p:cNvPr id="75" name="Google Shape;75;p15"/>
          <p:cNvPicPr preferRelativeResize="0"/>
          <p:nvPr/>
        </p:nvPicPr>
        <p:blipFill>
          <a:blip r:embed="rId4">
            <a:alphaModFix/>
          </a:blip>
          <a:stretch>
            <a:fillRect/>
          </a:stretch>
        </p:blipFill>
        <p:spPr>
          <a:xfrm>
            <a:off x="2834122" y="902547"/>
            <a:ext cx="3438724" cy="3229651"/>
          </a:xfrm>
          <a:prstGeom prst="rect">
            <a:avLst/>
          </a:prstGeom>
          <a:noFill/>
          <a:ln>
            <a:noFill/>
          </a:ln>
        </p:spPr>
      </p:pic>
      <p:pic>
        <p:nvPicPr>
          <p:cNvPr id="76" name="Google Shape;76;p15" title="Catálogo de Esmeraldas-02.png"/>
          <p:cNvPicPr preferRelativeResize="0"/>
          <p:nvPr/>
        </p:nvPicPr>
        <p:blipFill>
          <a:blip r:embed="rId5">
            <a:alphaModFix/>
          </a:blip>
          <a:stretch>
            <a:fillRect/>
          </a:stretch>
        </p:blipFill>
        <p:spPr>
          <a:xfrm>
            <a:off x="3686400" y="222150"/>
            <a:ext cx="1771175" cy="942600"/>
          </a:xfrm>
          <a:prstGeom prst="rect">
            <a:avLst/>
          </a:prstGeom>
          <a:noFill/>
          <a:ln>
            <a:noFill/>
          </a:ln>
        </p:spPr>
      </p:pic>
      <p:sp>
        <p:nvSpPr>
          <p:cNvPr id="77" name="Google Shape;77;p15"/>
          <p:cNvSpPr txBox="1"/>
          <p:nvPr/>
        </p:nvSpPr>
        <p:spPr>
          <a:xfrm>
            <a:off x="467600" y="1350025"/>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latin typeface="Montserrat"/>
                <a:ea typeface="Montserrat"/>
                <a:cs typeface="Montserrat"/>
                <a:sym typeface="Montserrat"/>
              </a:rPr>
              <a:t>Cadena de Valor Optimizada</a:t>
            </a:r>
            <a:endParaRPr b="1" sz="1300">
              <a:latin typeface="Montserrat"/>
              <a:ea typeface="Montserrat"/>
              <a:cs typeface="Montserrat"/>
              <a:sym typeface="Montserrat"/>
            </a:endParaRPr>
          </a:p>
        </p:txBody>
      </p:sp>
      <p:sp>
        <p:nvSpPr>
          <p:cNvPr id="78" name="Google Shape;78;p15"/>
          <p:cNvSpPr txBox="1"/>
          <p:nvPr/>
        </p:nvSpPr>
        <p:spPr>
          <a:xfrm>
            <a:off x="271850" y="45236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rgbClr val="005640"/>
                </a:solidFill>
                <a:latin typeface="Montserrat"/>
                <a:ea typeface="Montserrat"/>
                <a:cs typeface="Montserrat"/>
                <a:sym typeface="Montserrat"/>
              </a:rPr>
              <a:t>Ventajas Competitivas</a:t>
            </a:r>
            <a:endParaRPr sz="1100">
              <a:solidFill>
                <a:srgbClr val="005640"/>
              </a:solidFill>
              <a:latin typeface="Montserrat"/>
              <a:ea typeface="Montserrat"/>
              <a:cs typeface="Montserrat"/>
              <a:sym typeface="Montserrat"/>
            </a:endParaRPr>
          </a:p>
        </p:txBody>
      </p:sp>
      <p:grpSp>
        <p:nvGrpSpPr>
          <p:cNvPr id="79" name="Google Shape;79;p15"/>
          <p:cNvGrpSpPr/>
          <p:nvPr/>
        </p:nvGrpSpPr>
        <p:grpSpPr>
          <a:xfrm>
            <a:off x="511100" y="1823850"/>
            <a:ext cx="7961975" cy="541950"/>
            <a:chOff x="511100" y="1823850"/>
            <a:chExt cx="7961975" cy="541950"/>
          </a:xfrm>
        </p:grpSpPr>
        <p:sp>
          <p:nvSpPr>
            <p:cNvPr id="80" name="Google Shape;80;p15"/>
            <p:cNvSpPr txBox="1"/>
            <p:nvPr/>
          </p:nvSpPr>
          <p:spPr>
            <a:xfrm>
              <a:off x="1317775" y="1848525"/>
              <a:ext cx="7155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latin typeface="Montserrat"/>
                  <a:ea typeface="Montserrat"/>
                  <a:cs typeface="Montserrat"/>
                  <a:sym typeface="Montserrat"/>
                </a:rPr>
                <a:t>Alianza estratégica:  </a:t>
              </a:r>
              <a:r>
                <a:rPr lang="es-419" sz="1000">
                  <a:latin typeface="Montserrat Medium"/>
                  <a:ea typeface="Montserrat Medium"/>
                  <a:cs typeface="Montserrat Medium"/>
                  <a:sym typeface="Montserrat Medium"/>
                </a:rPr>
                <a:t>ESMICOLOMBIA GROUP + ARE TRÜST se unen para hacer posible la comercialización de esmeraldas colombianas en el mercado europeo</a:t>
              </a:r>
              <a:endParaRPr sz="1000">
                <a:latin typeface="Montserrat Medium"/>
                <a:ea typeface="Montserrat Medium"/>
                <a:cs typeface="Montserrat Medium"/>
                <a:sym typeface="Montserrat Medium"/>
              </a:endParaRPr>
            </a:p>
          </p:txBody>
        </p:sp>
        <p:pic>
          <p:nvPicPr>
            <p:cNvPr id="81" name="Google Shape;81;p15" title="como lo hacemos_Mesa de trabajo 1.png"/>
            <p:cNvPicPr preferRelativeResize="0"/>
            <p:nvPr/>
          </p:nvPicPr>
          <p:blipFill rotWithShape="1">
            <a:blip r:embed="rId6">
              <a:alphaModFix/>
            </a:blip>
            <a:srcRect b="52598" l="33323" r="60278" t="17941"/>
            <a:stretch/>
          </p:blipFill>
          <p:spPr>
            <a:xfrm>
              <a:off x="511100" y="1823850"/>
              <a:ext cx="585073" cy="541950"/>
            </a:xfrm>
            <a:prstGeom prst="rect">
              <a:avLst/>
            </a:prstGeom>
            <a:noFill/>
            <a:ln>
              <a:noFill/>
            </a:ln>
          </p:spPr>
        </p:pic>
      </p:grpSp>
      <p:grpSp>
        <p:nvGrpSpPr>
          <p:cNvPr id="82" name="Google Shape;82;p15"/>
          <p:cNvGrpSpPr/>
          <p:nvPr/>
        </p:nvGrpSpPr>
        <p:grpSpPr>
          <a:xfrm>
            <a:off x="511100" y="2384925"/>
            <a:ext cx="7961900" cy="541950"/>
            <a:chOff x="511100" y="2384925"/>
            <a:chExt cx="7961900" cy="541950"/>
          </a:xfrm>
        </p:grpSpPr>
        <p:sp>
          <p:nvSpPr>
            <p:cNvPr id="83" name="Google Shape;83;p15"/>
            <p:cNvSpPr txBox="1"/>
            <p:nvPr/>
          </p:nvSpPr>
          <p:spPr>
            <a:xfrm>
              <a:off x="1317700" y="2409600"/>
              <a:ext cx="7155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latin typeface="Montserrat"/>
                  <a:ea typeface="Montserrat"/>
                  <a:cs typeface="Montserrat"/>
                  <a:sym typeface="Montserrat"/>
                </a:rPr>
                <a:t>Lapidación en Colombia:</a:t>
              </a:r>
              <a:r>
                <a:rPr lang="es-419" sz="1000">
                  <a:latin typeface="Montserrat Medium"/>
                  <a:ea typeface="Montserrat Medium"/>
                  <a:cs typeface="Montserrat Medium"/>
                  <a:sym typeface="Montserrat Medium"/>
                </a:rPr>
                <a:t> Talleres certificados de confianza en Bogotá, para maximizar el rendimiento de cada piedra. </a:t>
              </a:r>
              <a:endParaRPr sz="1000">
                <a:latin typeface="Montserrat Medium"/>
                <a:ea typeface="Montserrat Medium"/>
                <a:cs typeface="Montserrat Medium"/>
                <a:sym typeface="Montserrat Medium"/>
              </a:endParaRPr>
            </a:p>
          </p:txBody>
        </p:sp>
        <p:pic>
          <p:nvPicPr>
            <p:cNvPr id="84" name="Google Shape;84;p15" title="como lo hacemos_Mesa de trabajo 1.png"/>
            <p:cNvPicPr preferRelativeResize="0"/>
            <p:nvPr/>
          </p:nvPicPr>
          <p:blipFill rotWithShape="1">
            <a:blip r:embed="rId6">
              <a:alphaModFix/>
            </a:blip>
            <a:srcRect b="52598" l="33323" r="60278" t="17941"/>
            <a:stretch/>
          </p:blipFill>
          <p:spPr>
            <a:xfrm>
              <a:off x="511100" y="2384925"/>
              <a:ext cx="585073" cy="541950"/>
            </a:xfrm>
            <a:prstGeom prst="rect">
              <a:avLst/>
            </a:prstGeom>
            <a:noFill/>
            <a:ln>
              <a:noFill/>
            </a:ln>
          </p:spPr>
        </p:pic>
      </p:grpSp>
      <p:grpSp>
        <p:nvGrpSpPr>
          <p:cNvPr id="85" name="Google Shape;85;p15"/>
          <p:cNvGrpSpPr/>
          <p:nvPr/>
        </p:nvGrpSpPr>
        <p:grpSpPr>
          <a:xfrm>
            <a:off x="511100" y="2935775"/>
            <a:ext cx="7962150" cy="541950"/>
            <a:chOff x="511100" y="2935775"/>
            <a:chExt cx="7962150" cy="541950"/>
          </a:xfrm>
        </p:grpSpPr>
        <p:sp>
          <p:nvSpPr>
            <p:cNvPr id="86" name="Google Shape;86;p15"/>
            <p:cNvSpPr txBox="1"/>
            <p:nvPr/>
          </p:nvSpPr>
          <p:spPr>
            <a:xfrm>
              <a:off x="1317950" y="2960450"/>
              <a:ext cx="7155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latin typeface="Montserrat"/>
                  <a:ea typeface="Montserrat"/>
                  <a:cs typeface="Montserrat"/>
                  <a:sym typeface="Montserrat"/>
                </a:rPr>
                <a:t>Certificación express</a:t>
              </a:r>
              <a:r>
                <a:rPr lang="es-419" sz="1000">
                  <a:latin typeface="Montserrat Medium"/>
                  <a:ea typeface="Montserrat Medium"/>
                  <a:cs typeface="Montserrat Medium"/>
                  <a:sym typeface="Montserrat Medium"/>
                </a:rPr>
                <a:t>: Acuerdos prioritarios con laboratorios en Colombia (Instituto Colombiano de Gemología)</a:t>
              </a:r>
              <a:endParaRPr sz="1000">
                <a:latin typeface="Montserrat Medium"/>
                <a:ea typeface="Montserrat Medium"/>
                <a:cs typeface="Montserrat Medium"/>
                <a:sym typeface="Montserrat Medium"/>
              </a:endParaRPr>
            </a:p>
          </p:txBody>
        </p:sp>
        <p:pic>
          <p:nvPicPr>
            <p:cNvPr id="87" name="Google Shape;87;p15" title="como lo hacemos_Mesa de trabajo 1.png"/>
            <p:cNvPicPr preferRelativeResize="0"/>
            <p:nvPr/>
          </p:nvPicPr>
          <p:blipFill rotWithShape="1">
            <a:blip r:embed="rId6">
              <a:alphaModFix/>
            </a:blip>
            <a:srcRect b="52598" l="33323" r="60278" t="17941"/>
            <a:stretch/>
          </p:blipFill>
          <p:spPr>
            <a:xfrm>
              <a:off x="511100" y="2935775"/>
              <a:ext cx="585073" cy="541950"/>
            </a:xfrm>
            <a:prstGeom prst="rect">
              <a:avLst/>
            </a:prstGeom>
            <a:noFill/>
            <a:ln>
              <a:noFill/>
            </a:ln>
          </p:spPr>
        </p:pic>
      </p:grpSp>
      <p:grpSp>
        <p:nvGrpSpPr>
          <p:cNvPr id="88" name="Google Shape;88;p15"/>
          <p:cNvGrpSpPr/>
          <p:nvPr/>
        </p:nvGrpSpPr>
        <p:grpSpPr>
          <a:xfrm>
            <a:off x="511100" y="3458275"/>
            <a:ext cx="7962000" cy="646500"/>
            <a:chOff x="511100" y="3382075"/>
            <a:chExt cx="7962000" cy="646500"/>
          </a:xfrm>
        </p:grpSpPr>
        <p:sp>
          <p:nvSpPr>
            <p:cNvPr id="89" name="Google Shape;89;p15"/>
            <p:cNvSpPr txBox="1"/>
            <p:nvPr/>
          </p:nvSpPr>
          <p:spPr>
            <a:xfrm>
              <a:off x="1317800" y="3382075"/>
              <a:ext cx="7155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latin typeface="Montserrat"/>
                  <a:ea typeface="Montserrat"/>
                  <a:cs typeface="Montserrat"/>
                  <a:sym typeface="Montserrat"/>
                </a:rPr>
                <a:t>Exportación formal y Logística segura:</a:t>
              </a:r>
              <a:r>
                <a:rPr lang="es-419" sz="1000">
                  <a:latin typeface="Montserrat Medium"/>
                  <a:ea typeface="Montserrat Medium"/>
                  <a:cs typeface="Montserrat Medium"/>
                  <a:sym typeface="Montserrat Medium"/>
                </a:rPr>
                <a:t> La logística de entrega es responsabilidad de nuestro Socio proveedor de las Esmeraldas, quien nos hace la entrega de la custodia en Barcelona directamente, después de haber pasado formalmente por Aduanas (costo de impuestos incluido en el valor invertido).</a:t>
              </a:r>
              <a:endParaRPr sz="1000">
                <a:latin typeface="Montserrat Medium"/>
                <a:ea typeface="Montserrat Medium"/>
                <a:cs typeface="Montserrat Medium"/>
                <a:sym typeface="Montserrat Medium"/>
              </a:endParaRPr>
            </a:p>
          </p:txBody>
        </p:sp>
        <p:pic>
          <p:nvPicPr>
            <p:cNvPr id="90" name="Google Shape;90;p15" title="como lo hacemos_Mesa de trabajo 1.png"/>
            <p:cNvPicPr preferRelativeResize="0"/>
            <p:nvPr/>
          </p:nvPicPr>
          <p:blipFill rotWithShape="1">
            <a:blip r:embed="rId6">
              <a:alphaModFix/>
            </a:blip>
            <a:srcRect b="52598" l="33323" r="60278" t="17941"/>
            <a:stretch/>
          </p:blipFill>
          <p:spPr>
            <a:xfrm>
              <a:off x="511100" y="3434350"/>
              <a:ext cx="585073" cy="541950"/>
            </a:xfrm>
            <a:prstGeom prst="rect">
              <a:avLst/>
            </a:prstGeom>
            <a:noFill/>
            <a:ln>
              <a:noFill/>
            </a:ln>
          </p:spPr>
        </p:pic>
      </p:grpSp>
    </p:spTree>
  </p:cSld>
  <p:clrMapOvr>
    <a:masterClrMapping/>
  </p:clrMapOvr>
  <mc:AlternateContent>
    <mc:Choice Requires="p14">
      <p:transition spd="med">
        <p14:flip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1000"/>
                                        <p:tgtEl>
                                          <p:spTgt spid="77"/>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1000"/>
                                        <p:tgtEl>
                                          <p:spTgt spid="79"/>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1000"/>
                                        <p:tgtEl>
                                          <p:spTgt spid="82"/>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8">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8">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300"/>
                                        <p:tgtEl>
                                          <p:spTgt spid="8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6" title="bg_desktop_enfoque_02.jpg"/>
          <p:cNvPicPr preferRelativeResize="0"/>
          <p:nvPr/>
        </p:nvPicPr>
        <p:blipFill>
          <a:blip r:embed="rId3">
            <a:alphaModFix/>
          </a:blip>
          <a:stretch>
            <a:fillRect/>
          </a:stretch>
        </p:blipFill>
        <p:spPr>
          <a:xfrm>
            <a:off x="7392673" y="3813177"/>
            <a:ext cx="1611699" cy="1396076"/>
          </a:xfrm>
          <a:prstGeom prst="rect">
            <a:avLst/>
          </a:prstGeom>
          <a:noFill/>
          <a:ln>
            <a:noFill/>
          </a:ln>
        </p:spPr>
      </p:pic>
      <p:pic>
        <p:nvPicPr>
          <p:cNvPr id="96" name="Google Shape;96;p16"/>
          <p:cNvPicPr preferRelativeResize="0"/>
          <p:nvPr/>
        </p:nvPicPr>
        <p:blipFill>
          <a:blip r:embed="rId4">
            <a:alphaModFix/>
          </a:blip>
          <a:stretch>
            <a:fillRect/>
          </a:stretch>
        </p:blipFill>
        <p:spPr>
          <a:xfrm>
            <a:off x="2834122" y="902547"/>
            <a:ext cx="3438724" cy="3229651"/>
          </a:xfrm>
          <a:prstGeom prst="rect">
            <a:avLst/>
          </a:prstGeom>
          <a:noFill/>
          <a:ln>
            <a:noFill/>
          </a:ln>
        </p:spPr>
      </p:pic>
      <p:pic>
        <p:nvPicPr>
          <p:cNvPr id="97" name="Google Shape;97;p16" title="Catálogo de Esmeraldas-02.png"/>
          <p:cNvPicPr preferRelativeResize="0"/>
          <p:nvPr/>
        </p:nvPicPr>
        <p:blipFill>
          <a:blip r:embed="rId5">
            <a:alphaModFix/>
          </a:blip>
          <a:stretch>
            <a:fillRect/>
          </a:stretch>
        </p:blipFill>
        <p:spPr>
          <a:xfrm>
            <a:off x="3686400" y="222150"/>
            <a:ext cx="1771175" cy="942600"/>
          </a:xfrm>
          <a:prstGeom prst="rect">
            <a:avLst/>
          </a:prstGeom>
          <a:noFill/>
          <a:ln>
            <a:noFill/>
          </a:ln>
        </p:spPr>
      </p:pic>
      <p:sp>
        <p:nvSpPr>
          <p:cNvPr id="98" name="Google Shape;98;p16"/>
          <p:cNvSpPr txBox="1"/>
          <p:nvPr/>
        </p:nvSpPr>
        <p:spPr>
          <a:xfrm>
            <a:off x="271850" y="45236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rgbClr val="005640"/>
                </a:solidFill>
                <a:latin typeface="Montserrat"/>
                <a:ea typeface="Montserrat"/>
                <a:cs typeface="Montserrat"/>
                <a:sym typeface="Montserrat"/>
              </a:rPr>
              <a:t>Oportunidad</a:t>
            </a:r>
            <a:endParaRPr sz="1100">
              <a:solidFill>
                <a:srgbClr val="005640"/>
              </a:solidFill>
              <a:latin typeface="Montserrat"/>
              <a:ea typeface="Montserrat"/>
              <a:cs typeface="Montserrat"/>
              <a:sym typeface="Montserrat"/>
            </a:endParaRPr>
          </a:p>
        </p:txBody>
      </p:sp>
      <p:sp>
        <p:nvSpPr>
          <p:cNvPr id="99" name="Google Shape;99;p16"/>
          <p:cNvSpPr txBox="1"/>
          <p:nvPr/>
        </p:nvSpPr>
        <p:spPr>
          <a:xfrm>
            <a:off x="456725" y="1843225"/>
            <a:ext cx="80055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000">
                <a:latin typeface="Montserrat Medium"/>
                <a:ea typeface="Montserrat Medium"/>
                <a:cs typeface="Montserrat Medium"/>
                <a:sym typeface="Montserrat Medium"/>
              </a:rPr>
              <a:t>Después de un año de consolidación de la alianza entre nuestras empresas, hoy celebramos cumpliendo nuestro primer propósito: </a:t>
            </a:r>
            <a:r>
              <a:rPr b="1" lang="es-419" sz="1000">
                <a:latin typeface="Montserrat"/>
                <a:ea typeface="Montserrat"/>
                <a:cs typeface="Montserrat"/>
                <a:sym typeface="Montserrat"/>
              </a:rPr>
              <a:t>abrir mercado europeo</a:t>
            </a:r>
            <a:r>
              <a:rPr lang="es-419" sz="1000">
                <a:latin typeface="Montserrat Medium"/>
                <a:ea typeface="Montserrat Medium"/>
                <a:cs typeface="Montserrat Medium"/>
                <a:sym typeface="Montserrat Medium"/>
              </a:rPr>
              <a:t>.</a:t>
            </a:r>
            <a:r>
              <a:rPr lang="es-419" sz="1000">
                <a:latin typeface="Montserrat Medium"/>
                <a:ea typeface="Montserrat Medium"/>
                <a:cs typeface="Montserrat Medium"/>
                <a:sym typeface="Montserrat Medium"/>
              </a:rPr>
              <a:t> </a:t>
            </a:r>
            <a:endParaRPr sz="1000">
              <a:latin typeface="Montserrat Medium"/>
              <a:ea typeface="Montserrat Medium"/>
              <a:cs typeface="Montserrat Medium"/>
              <a:sym typeface="Montserrat Medium"/>
            </a:endParaRPr>
          </a:p>
          <a:p>
            <a:pPr indent="0" lvl="0" marL="0" rtl="0" algn="l">
              <a:spcBef>
                <a:spcPts val="0"/>
              </a:spcBef>
              <a:spcAft>
                <a:spcPts val="0"/>
              </a:spcAft>
              <a:buNone/>
            </a:pPr>
            <a:r>
              <a:t/>
            </a:r>
            <a:endParaRPr sz="1000">
              <a:latin typeface="Montserrat Medium"/>
              <a:ea typeface="Montserrat Medium"/>
              <a:cs typeface="Montserrat Medium"/>
              <a:sym typeface="Montserrat Medium"/>
            </a:endParaRPr>
          </a:p>
          <a:p>
            <a:pPr indent="0" lvl="0" marL="0" rtl="0" algn="l">
              <a:spcBef>
                <a:spcPts val="0"/>
              </a:spcBef>
              <a:spcAft>
                <a:spcPts val="0"/>
              </a:spcAft>
              <a:buNone/>
            </a:pPr>
            <a:r>
              <a:rPr lang="es-419" sz="1000">
                <a:latin typeface="Montserrat Medium"/>
                <a:ea typeface="Montserrat Medium"/>
                <a:cs typeface="Montserrat Medium"/>
                <a:sym typeface="Montserrat Medium"/>
              </a:rPr>
              <a:t>En los próximos días, estaremos llevando el primer lote de esmeraldas grado de inversión valuado en más de 500.000</a:t>
            </a:r>
            <a:r>
              <a:rPr lang="es-419" sz="1000">
                <a:solidFill>
                  <a:schemeClr val="dk1"/>
                </a:solidFill>
                <a:latin typeface="Montserrat Medium"/>
                <a:ea typeface="Montserrat Medium"/>
                <a:cs typeface="Montserrat Medium"/>
                <a:sym typeface="Montserrat Medium"/>
              </a:rPr>
              <a:t>USD</a:t>
            </a:r>
            <a:r>
              <a:rPr lang="es-419" sz="1000">
                <a:latin typeface="Montserrat Medium"/>
                <a:ea typeface="Montserrat Medium"/>
                <a:cs typeface="Montserrat Medium"/>
                <a:sym typeface="Montserrat Medium"/>
              </a:rPr>
              <a:t> a Barcelona, esto nos da lugar a que amigos y familiares tengan la oportunidad de acompañarnos en este gran paso comprando su propio lote de esmeraldas comerciales valuados desde los $10 millones de pesos colombianos, hasta los cien, generando una ganancia atractiva debido a la diferencia entre el precio local y el internacional; algo que nos honra compartir con nuestra comunidad.</a:t>
            </a:r>
            <a:endParaRPr sz="1000">
              <a:latin typeface="Montserrat Medium"/>
              <a:ea typeface="Montserrat Medium"/>
              <a:cs typeface="Montserrat Medium"/>
              <a:sym typeface="Montserrat Medium"/>
            </a:endParaRPr>
          </a:p>
          <a:p>
            <a:pPr indent="0" lvl="0" marL="0" rtl="0" algn="l">
              <a:spcBef>
                <a:spcPts val="0"/>
              </a:spcBef>
              <a:spcAft>
                <a:spcPts val="0"/>
              </a:spcAft>
              <a:buNone/>
            </a:pPr>
            <a:r>
              <a:t/>
            </a:r>
            <a:endParaRPr sz="1000">
              <a:latin typeface="Montserrat Medium"/>
              <a:ea typeface="Montserrat Medium"/>
              <a:cs typeface="Montserrat Medium"/>
              <a:sym typeface="Montserrat Medium"/>
            </a:endParaRPr>
          </a:p>
          <a:p>
            <a:pPr indent="0" lvl="0" marL="0" rtl="0" algn="l">
              <a:spcBef>
                <a:spcPts val="0"/>
              </a:spcBef>
              <a:spcAft>
                <a:spcPts val="0"/>
              </a:spcAft>
              <a:buNone/>
            </a:pPr>
            <a:r>
              <a:rPr lang="es-419" sz="1000">
                <a:latin typeface="Montserrat Medium"/>
                <a:ea typeface="Montserrat Medium"/>
                <a:cs typeface="Montserrat Medium"/>
                <a:sym typeface="Montserrat Medium"/>
              </a:rPr>
              <a:t>Esta es una oportunidad únicamente para amigos y familiares  ARE TRÜST </a:t>
            </a:r>
            <a:endParaRPr sz="1000">
              <a:latin typeface="Montserrat Medium"/>
              <a:ea typeface="Montserrat Medium"/>
              <a:cs typeface="Montserrat Medium"/>
              <a:sym typeface="Montserrat Medium"/>
            </a:endParaRPr>
          </a:p>
          <a:p>
            <a:pPr indent="0" lvl="0" marL="0" rtl="0" algn="l">
              <a:spcBef>
                <a:spcPts val="0"/>
              </a:spcBef>
              <a:spcAft>
                <a:spcPts val="0"/>
              </a:spcAft>
              <a:buNone/>
            </a:pPr>
            <a:r>
              <a:t/>
            </a:r>
            <a:endParaRPr sz="1000">
              <a:latin typeface="Montserrat Medium"/>
              <a:ea typeface="Montserrat Medium"/>
              <a:cs typeface="Montserrat Medium"/>
              <a:sym typeface="Montserrat Medium"/>
            </a:endParaRPr>
          </a:p>
          <a:p>
            <a:pPr indent="0" lvl="0" marL="0" rtl="0" algn="l">
              <a:spcBef>
                <a:spcPts val="0"/>
              </a:spcBef>
              <a:spcAft>
                <a:spcPts val="0"/>
              </a:spcAft>
              <a:buNone/>
            </a:pPr>
            <a:r>
              <a:rPr lang="es-419" sz="1000">
                <a:latin typeface="Montserrat Medium"/>
                <a:ea typeface="Montserrat Medium"/>
                <a:cs typeface="Montserrat Medium"/>
                <a:sym typeface="Montserrat Medium"/>
              </a:rPr>
              <a:t>Define tu inversión para comprar o participar en uno de nuestros lotes, trabajemos juntos para sacarle la mejor rentabilidad en el exterior y participemos en justas proporciones sobre las ganancias, como buenos socios de negocios</a:t>
            </a:r>
            <a:endParaRPr sz="1000">
              <a:latin typeface="Montserrat Medium"/>
              <a:ea typeface="Montserrat Medium"/>
              <a:cs typeface="Montserrat Medium"/>
              <a:sym typeface="Montserrat Medium"/>
            </a:endParaRPr>
          </a:p>
        </p:txBody>
      </p:sp>
      <p:sp>
        <p:nvSpPr>
          <p:cNvPr id="100" name="Google Shape;100;p16"/>
          <p:cNvSpPr txBox="1"/>
          <p:nvPr/>
        </p:nvSpPr>
        <p:spPr>
          <a:xfrm>
            <a:off x="456725" y="1371775"/>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300">
                <a:solidFill>
                  <a:schemeClr val="dk1"/>
                </a:solidFill>
                <a:latin typeface="Montserrat"/>
                <a:ea typeface="Montserrat"/>
                <a:cs typeface="Montserrat"/>
                <a:sym typeface="Montserrat"/>
              </a:rPr>
              <a:t>¿Por qué es un negocio seguro?</a:t>
            </a:r>
            <a:endParaRPr b="1" sz="1300">
              <a:latin typeface="Montserrat"/>
              <a:ea typeface="Montserrat"/>
              <a:cs typeface="Montserrat"/>
              <a:sym typeface="Montserrat"/>
            </a:endParaRPr>
          </a:p>
        </p:txBody>
      </p:sp>
    </p:spTree>
  </p:cSld>
  <p:clrMapOvr>
    <a:masterClrMapping/>
  </p:clrMapOvr>
  <mc:AlternateContent>
    <mc:Choice Requires="p14">
      <p:transition spd="med">
        <p14:gallery dir="l"/>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17" title="bg_desktop_enfoque_02.jpg"/>
          <p:cNvPicPr preferRelativeResize="0"/>
          <p:nvPr/>
        </p:nvPicPr>
        <p:blipFill>
          <a:blip r:embed="rId3">
            <a:alphaModFix/>
          </a:blip>
          <a:stretch>
            <a:fillRect/>
          </a:stretch>
        </p:blipFill>
        <p:spPr>
          <a:xfrm>
            <a:off x="7392673" y="3813177"/>
            <a:ext cx="1611699" cy="1396076"/>
          </a:xfrm>
          <a:prstGeom prst="rect">
            <a:avLst/>
          </a:prstGeom>
          <a:noFill/>
          <a:ln>
            <a:noFill/>
          </a:ln>
        </p:spPr>
      </p:pic>
      <p:pic>
        <p:nvPicPr>
          <p:cNvPr id="106" name="Google Shape;106;p17"/>
          <p:cNvPicPr preferRelativeResize="0"/>
          <p:nvPr/>
        </p:nvPicPr>
        <p:blipFill>
          <a:blip r:embed="rId4">
            <a:alphaModFix/>
          </a:blip>
          <a:stretch>
            <a:fillRect/>
          </a:stretch>
        </p:blipFill>
        <p:spPr>
          <a:xfrm>
            <a:off x="2834122" y="902547"/>
            <a:ext cx="3438724" cy="3229651"/>
          </a:xfrm>
          <a:prstGeom prst="rect">
            <a:avLst/>
          </a:prstGeom>
          <a:noFill/>
          <a:ln>
            <a:noFill/>
          </a:ln>
        </p:spPr>
      </p:pic>
      <p:pic>
        <p:nvPicPr>
          <p:cNvPr id="107" name="Google Shape;107;p17" title="Catálogo de Esmeraldas-02.png"/>
          <p:cNvPicPr preferRelativeResize="0"/>
          <p:nvPr/>
        </p:nvPicPr>
        <p:blipFill>
          <a:blip r:embed="rId5">
            <a:alphaModFix/>
          </a:blip>
          <a:stretch>
            <a:fillRect/>
          </a:stretch>
        </p:blipFill>
        <p:spPr>
          <a:xfrm>
            <a:off x="3686400" y="222150"/>
            <a:ext cx="1771175" cy="942600"/>
          </a:xfrm>
          <a:prstGeom prst="rect">
            <a:avLst/>
          </a:prstGeom>
          <a:noFill/>
          <a:ln>
            <a:noFill/>
          </a:ln>
        </p:spPr>
      </p:pic>
      <p:sp>
        <p:nvSpPr>
          <p:cNvPr id="108" name="Google Shape;108;p17"/>
          <p:cNvSpPr txBox="1"/>
          <p:nvPr/>
        </p:nvSpPr>
        <p:spPr>
          <a:xfrm>
            <a:off x="271850" y="452367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rgbClr val="005640"/>
                </a:solidFill>
                <a:latin typeface="Montserrat"/>
                <a:ea typeface="Montserrat"/>
                <a:cs typeface="Montserrat"/>
                <a:sym typeface="Montserrat"/>
              </a:rPr>
              <a:t>Cronograma</a:t>
            </a:r>
            <a:endParaRPr sz="1100">
              <a:solidFill>
                <a:srgbClr val="005640"/>
              </a:solidFill>
              <a:latin typeface="Montserrat"/>
              <a:ea typeface="Montserrat"/>
              <a:cs typeface="Montserrat"/>
              <a:sym typeface="Montserrat"/>
            </a:endParaRPr>
          </a:p>
        </p:txBody>
      </p:sp>
      <p:graphicFrame>
        <p:nvGraphicFramePr>
          <p:cNvPr id="109" name="Google Shape;109;p17"/>
          <p:cNvGraphicFramePr/>
          <p:nvPr/>
        </p:nvGraphicFramePr>
        <p:xfrm>
          <a:off x="376200" y="1229675"/>
          <a:ext cx="3000000" cy="3000000"/>
        </p:xfrm>
        <a:graphic>
          <a:graphicData uri="http://schemas.openxmlformats.org/drawingml/2006/table">
            <a:tbl>
              <a:tblPr>
                <a:noFill/>
                <a:tableStyleId>{530FE948-9B7B-49DA-9B90-EE4413A26F05}</a:tableStyleId>
              </a:tblPr>
              <a:tblGrid>
                <a:gridCol w="2786325"/>
                <a:gridCol w="2786325"/>
                <a:gridCol w="2786325"/>
              </a:tblGrid>
              <a:tr h="381000">
                <a:tc>
                  <a:txBody>
                    <a:bodyPr/>
                    <a:lstStyle/>
                    <a:p>
                      <a:pPr indent="0" lvl="0" marL="0" rtl="0" algn="ctr">
                        <a:spcBef>
                          <a:spcPts val="0"/>
                        </a:spcBef>
                        <a:spcAft>
                          <a:spcPts val="0"/>
                        </a:spcAft>
                        <a:buNone/>
                      </a:pPr>
                      <a:r>
                        <a:rPr b="1" lang="es-419" sz="1000">
                          <a:solidFill>
                            <a:schemeClr val="lt1"/>
                          </a:solidFill>
                          <a:latin typeface="Montserrat"/>
                          <a:ea typeface="Montserrat"/>
                          <a:cs typeface="Montserrat"/>
                          <a:sym typeface="Montserrat"/>
                        </a:rPr>
                        <a:t>ETAPA</a:t>
                      </a:r>
                      <a:endParaRPr b="1" sz="1000">
                        <a:solidFill>
                          <a:schemeClr val="lt1"/>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5640"/>
                    </a:solidFill>
                  </a:tcPr>
                </a:tc>
                <a:tc>
                  <a:txBody>
                    <a:bodyPr/>
                    <a:lstStyle/>
                    <a:p>
                      <a:pPr indent="0" lvl="0" marL="0" rtl="0" algn="ctr">
                        <a:spcBef>
                          <a:spcPts val="0"/>
                        </a:spcBef>
                        <a:spcAft>
                          <a:spcPts val="0"/>
                        </a:spcAft>
                        <a:buNone/>
                      </a:pPr>
                      <a:r>
                        <a:rPr b="1" lang="es-419" sz="1000">
                          <a:solidFill>
                            <a:schemeClr val="lt1"/>
                          </a:solidFill>
                          <a:latin typeface="Montserrat"/>
                          <a:ea typeface="Montserrat"/>
                          <a:cs typeface="Montserrat"/>
                          <a:sym typeface="Montserrat"/>
                        </a:rPr>
                        <a:t>TIEMPO</a:t>
                      </a:r>
                      <a:endParaRPr b="1" sz="1000">
                        <a:solidFill>
                          <a:schemeClr val="lt1"/>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5640"/>
                    </a:solidFill>
                  </a:tcPr>
                </a:tc>
                <a:tc>
                  <a:txBody>
                    <a:bodyPr/>
                    <a:lstStyle/>
                    <a:p>
                      <a:pPr indent="0" lvl="0" marL="0" rtl="0" algn="ctr">
                        <a:spcBef>
                          <a:spcPts val="0"/>
                        </a:spcBef>
                        <a:spcAft>
                          <a:spcPts val="0"/>
                        </a:spcAft>
                        <a:buNone/>
                      </a:pPr>
                      <a:r>
                        <a:rPr b="1" lang="es-419" sz="1000">
                          <a:solidFill>
                            <a:schemeClr val="lt1"/>
                          </a:solidFill>
                          <a:latin typeface="Montserrat"/>
                          <a:ea typeface="Montserrat"/>
                          <a:cs typeface="Montserrat"/>
                          <a:sym typeface="Montserrat"/>
                        </a:rPr>
                        <a:t>DESCRIPCIÓN</a:t>
                      </a:r>
                      <a:endParaRPr b="1" sz="1000">
                        <a:solidFill>
                          <a:schemeClr val="lt1"/>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5640"/>
                    </a:solidFill>
                  </a:tcPr>
                </a:tc>
              </a:tr>
              <a:tr h="381000">
                <a:tc>
                  <a:txBody>
                    <a:bodyPr/>
                    <a:lstStyle/>
                    <a:p>
                      <a:pPr indent="0" lvl="0" marL="0" rtl="0" algn="l">
                        <a:spcBef>
                          <a:spcPts val="0"/>
                        </a:spcBef>
                        <a:spcAft>
                          <a:spcPts val="0"/>
                        </a:spcAft>
                        <a:buNone/>
                      </a:pPr>
                      <a:r>
                        <a:rPr lang="es-419" sz="1000">
                          <a:latin typeface="Montserrat"/>
                          <a:ea typeface="Montserrat"/>
                          <a:cs typeface="Montserrat"/>
                          <a:sym typeface="Montserrat"/>
                        </a:rPr>
                        <a:t>Compra del lote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1 día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Pago directo a los dueños del lote</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31A758"/>
                      </a:solidFill>
                      <a:prstDash val="solid"/>
                      <a:round/>
                      <a:headEnd len="sm" w="sm" type="none"/>
                      <a:tailEnd len="sm" w="sm" type="none"/>
                    </a:lnB>
                  </a:tcPr>
                </a:tc>
              </a:tr>
              <a:tr h="381000">
                <a:tc>
                  <a:txBody>
                    <a:bodyPr/>
                    <a:lstStyle/>
                    <a:p>
                      <a:pPr indent="0" lvl="0" marL="0" rtl="0" algn="l">
                        <a:spcBef>
                          <a:spcPts val="0"/>
                        </a:spcBef>
                        <a:spcAft>
                          <a:spcPts val="0"/>
                        </a:spcAft>
                        <a:buNone/>
                      </a:pPr>
                      <a:r>
                        <a:rPr lang="es-419" sz="1000">
                          <a:latin typeface="Montserrat"/>
                          <a:ea typeface="Montserrat"/>
                          <a:cs typeface="Montserrat"/>
                          <a:sym typeface="Montserrat"/>
                        </a:rPr>
                        <a:t>Certificación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1 a 2 días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Emisión de certificados de origen y autenticidad</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r>
              <a:tr h="381000">
                <a:tc>
                  <a:txBody>
                    <a:bodyPr/>
                    <a:lstStyle/>
                    <a:p>
                      <a:pPr indent="0" lvl="0" marL="0" rtl="0" algn="l">
                        <a:spcBef>
                          <a:spcPts val="0"/>
                        </a:spcBef>
                        <a:spcAft>
                          <a:spcPts val="0"/>
                        </a:spcAft>
                        <a:buNone/>
                      </a:pPr>
                      <a:r>
                        <a:rPr lang="es-419" sz="1000">
                          <a:latin typeface="Montserrat"/>
                          <a:ea typeface="Montserrat"/>
                          <a:cs typeface="Montserrat"/>
                          <a:sym typeface="Montserrat"/>
                        </a:rPr>
                        <a:t>Exportación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3 días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419" sz="1000">
                          <a:solidFill>
                            <a:schemeClr val="dk1"/>
                          </a:solidFill>
                          <a:latin typeface="Montserrat"/>
                          <a:ea typeface="Montserrat"/>
                          <a:cs typeface="Montserrat"/>
                          <a:sym typeface="Montserrat"/>
                        </a:rPr>
                        <a:t>Exportación formal y Logística segura</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r>
              <a:tr h="381000">
                <a:tc>
                  <a:txBody>
                    <a:bodyPr/>
                    <a:lstStyle/>
                    <a:p>
                      <a:pPr indent="0" lvl="0" marL="0" rtl="0" algn="l">
                        <a:spcBef>
                          <a:spcPts val="0"/>
                        </a:spcBef>
                        <a:spcAft>
                          <a:spcPts val="0"/>
                        </a:spcAft>
                        <a:buNone/>
                      </a:pPr>
                      <a:r>
                        <a:rPr lang="es-419" sz="1000">
                          <a:latin typeface="Montserrat"/>
                          <a:ea typeface="Montserrat"/>
                          <a:cs typeface="Montserrat"/>
                          <a:sym typeface="Montserrat"/>
                        </a:rPr>
                        <a:t>Venta</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1 - 6  Meses</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Distribución en eventos exclusivos y subastas</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r>
              <a:tr h="381000">
                <a:tc>
                  <a:txBody>
                    <a:bodyPr/>
                    <a:lstStyle/>
                    <a:p>
                      <a:pPr indent="0" lvl="0" marL="0" rtl="0" algn="l">
                        <a:spcBef>
                          <a:spcPts val="0"/>
                        </a:spcBef>
                        <a:spcAft>
                          <a:spcPts val="0"/>
                        </a:spcAft>
                        <a:buNone/>
                      </a:pPr>
                      <a:r>
                        <a:rPr lang="es-419" sz="1000">
                          <a:latin typeface="Montserrat"/>
                          <a:ea typeface="Montserrat"/>
                          <a:cs typeface="Montserrat"/>
                          <a:sym typeface="Montserrat"/>
                        </a:rPr>
                        <a:t>Retorno de la inversión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1 - 15 días </a:t>
                      </a:r>
                      <a:r>
                        <a:rPr lang="es-419" sz="1000">
                          <a:latin typeface="Montserrat"/>
                          <a:ea typeface="Montserrat"/>
                          <a:cs typeface="Montserrat"/>
                          <a:sym typeface="Montserrat"/>
                        </a:rPr>
                        <a:t>después</a:t>
                      </a:r>
                      <a:r>
                        <a:rPr lang="es-419" sz="1000">
                          <a:latin typeface="Montserrat"/>
                          <a:ea typeface="Montserrat"/>
                          <a:cs typeface="Montserrat"/>
                          <a:sym typeface="Montserrat"/>
                        </a:rPr>
                        <a:t> de la venta</a:t>
                      </a:r>
                      <a:endParaRPr sz="1000">
                        <a:latin typeface="Montserrat"/>
                        <a:ea typeface="Montserrat"/>
                        <a:cs typeface="Montserrat"/>
                        <a:sym typeface="Montserrat"/>
                      </a:endParaRPr>
                    </a:p>
                    <a:p>
                      <a:pPr indent="0" lvl="0" marL="0" rtl="0" algn="l">
                        <a:spcBef>
                          <a:spcPts val="0"/>
                        </a:spcBef>
                        <a:spcAft>
                          <a:spcPts val="0"/>
                        </a:spcAft>
                        <a:buNone/>
                      </a:pPr>
                      <a:r>
                        <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c>
                  <a:txBody>
                    <a:bodyPr/>
                    <a:lstStyle/>
                    <a:p>
                      <a:pPr indent="0" lvl="0" marL="0" rtl="0" algn="l">
                        <a:spcBef>
                          <a:spcPts val="0"/>
                        </a:spcBef>
                        <a:spcAft>
                          <a:spcPts val="0"/>
                        </a:spcAft>
                        <a:buNone/>
                      </a:pPr>
                      <a:r>
                        <a:rPr lang="es-419" sz="1000">
                          <a:latin typeface="Montserrat"/>
                          <a:ea typeface="Montserrat"/>
                          <a:cs typeface="Montserrat"/>
                          <a:sym typeface="Montserrat"/>
                        </a:rPr>
                        <a:t>Gestión administrativa para liquidación de compromisos a través de todas las plataformas de pago</a:t>
                      </a:r>
                      <a:endParaRPr sz="1000">
                        <a:latin typeface="Montserrat"/>
                        <a:ea typeface="Montserrat"/>
                        <a:cs typeface="Montserrat"/>
                        <a:sym typeface="Montserrat"/>
                      </a:endParaRPr>
                    </a:p>
                  </a:txBody>
                  <a:tcPr marT="91425" marB="91425" marR="91425" marL="91425" anchor="ctr">
                    <a:lnL cap="flat" cmpd="sng" w="9525">
                      <a:solidFill>
                        <a:srgbClr val="31A758"/>
                      </a:solidFill>
                      <a:prstDash val="solid"/>
                      <a:round/>
                      <a:headEnd len="sm" w="sm" type="none"/>
                      <a:tailEnd len="sm" w="sm" type="none"/>
                    </a:lnL>
                    <a:lnR cap="flat" cmpd="sng" w="9525">
                      <a:solidFill>
                        <a:srgbClr val="31A758"/>
                      </a:solidFill>
                      <a:prstDash val="solid"/>
                      <a:round/>
                      <a:headEnd len="sm" w="sm" type="none"/>
                      <a:tailEnd len="sm" w="sm" type="none"/>
                    </a:lnR>
                    <a:lnT cap="flat" cmpd="sng" w="9525">
                      <a:solidFill>
                        <a:srgbClr val="31A758"/>
                      </a:solidFill>
                      <a:prstDash val="solid"/>
                      <a:round/>
                      <a:headEnd len="sm" w="sm" type="none"/>
                      <a:tailEnd len="sm" w="sm" type="none"/>
                    </a:lnT>
                    <a:lnB cap="flat" cmpd="sng" w="9525">
                      <a:solidFill>
                        <a:srgbClr val="31A758"/>
                      </a:solidFill>
                      <a:prstDash val="solid"/>
                      <a:round/>
                      <a:headEnd len="sm" w="sm" type="none"/>
                      <a:tailEnd len="sm" w="sm" type="none"/>
                    </a:lnB>
                  </a:tcPr>
                </a:tc>
              </a:tr>
            </a:tbl>
          </a:graphicData>
        </a:graphic>
      </p:graphicFrame>
    </p:spTree>
  </p:cSld>
  <p:clrMapOvr>
    <a:masterClrMapping/>
  </p:clrMapOvr>
  <mc:AlternateContent>
    <mc:Choice Requires="p14">
      <p:transition spd="med">
        <p14:gallery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1000"/>
                                        <p:tgtEl>
                                          <p:spTgt spid="1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pic>
        <p:nvPicPr>
          <p:cNvPr id="114" name="Google Shape;114;p18" title="LOGO BLANCO-03.png"/>
          <p:cNvPicPr preferRelativeResize="0"/>
          <p:nvPr/>
        </p:nvPicPr>
        <p:blipFill>
          <a:blip r:embed="rId4">
            <a:alphaModFix/>
          </a:blip>
          <a:stretch>
            <a:fillRect/>
          </a:stretch>
        </p:blipFill>
        <p:spPr>
          <a:xfrm>
            <a:off x="3206298" y="2645075"/>
            <a:ext cx="2385200" cy="1264250"/>
          </a:xfrm>
          <a:prstGeom prst="rect">
            <a:avLst/>
          </a:prstGeom>
          <a:noFill/>
          <a:ln>
            <a:noFill/>
          </a:ln>
        </p:spPr>
      </p:pic>
      <p:sp>
        <p:nvSpPr>
          <p:cNvPr id="115" name="Google Shape;115;p18"/>
          <p:cNvSpPr txBox="1"/>
          <p:nvPr/>
        </p:nvSpPr>
        <p:spPr>
          <a:xfrm>
            <a:off x="2561550" y="983025"/>
            <a:ext cx="402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solidFill>
                  <a:schemeClr val="lt1"/>
                </a:solidFill>
                <a:latin typeface="Montserrat Light"/>
                <a:ea typeface="Montserrat Light"/>
                <a:cs typeface="Montserrat Light"/>
                <a:sym typeface="Montserrat Light"/>
              </a:rPr>
              <a:t>La abundancia está en </a:t>
            </a:r>
            <a:r>
              <a:rPr lang="es-419" sz="1000">
                <a:solidFill>
                  <a:schemeClr val="lt1"/>
                </a:solidFill>
                <a:latin typeface="Montserrat Light"/>
                <a:ea typeface="Montserrat Light"/>
                <a:cs typeface="Montserrat Light"/>
                <a:sym typeface="Montserrat Light"/>
              </a:rPr>
              <a:t>compartir</a:t>
            </a:r>
            <a:r>
              <a:rPr lang="es-419" sz="1000">
                <a:solidFill>
                  <a:schemeClr val="lt1"/>
                </a:solidFill>
                <a:latin typeface="Montserrat Light"/>
                <a:ea typeface="Montserrat Light"/>
                <a:cs typeface="Montserrat Light"/>
                <a:sym typeface="Montserrat Light"/>
              </a:rPr>
              <a:t> entre amigos</a:t>
            </a:r>
            <a:endParaRPr sz="1000">
              <a:solidFill>
                <a:schemeClr val="lt1"/>
              </a:solidFill>
              <a:latin typeface="Montserrat Light"/>
              <a:ea typeface="Montserrat Light"/>
              <a:cs typeface="Montserrat Light"/>
              <a:sym typeface="Montserrat Light"/>
            </a:endParaRPr>
          </a:p>
        </p:txBody>
      </p:sp>
    </p:spTree>
  </p:cSld>
  <p:clrMapOvr>
    <a:masterClrMapping/>
  </p:clrMapOvr>
  <mc:AlternateContent>
    <mc:Choice Requires="p14">
      <p:transition spd="med">
        <p14:prism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3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